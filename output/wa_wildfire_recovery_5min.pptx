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01927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FDDBCD"/>
          </a:solidFill>
        </a:fill>
      </a:tcStyle>
    </a:wholeTbl>
    <a:band2H>
      <a:tcTxStyle b="def" i="def"/>
      <a:tcStyle>
        <a:tcBdr/>
        <a:fill>
          <a:solidFill>
            <a:srgbClr val="FEEE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381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381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F9CDCD"/>
          </a:solidFill>
        </a:fill>
      </a:tcStyle>
    </a:wholeTbl>
    <a:band2H>
      <a:tcTxStyle b="def" i="def"/>
      <a:tcStyle>
        <a:tcBdr/>
        <a:fill>
          <a:solidFill>
            <a:srgbClr val="FCE8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381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381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D8F9E2"/>
          </a:solidFill>
        </a:fill>
      </a:tcStyle>
    </a:wholeTbl>
    <a:band2H>
      <a:tcTxStyle b="def" i="def"/>
      <a:tcStyle>
        <a:tcBdr/>
        <a:fill>
          <a:solidFill>
            <a:srgbClr val="EDFC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381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381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7E7"/>
          </a:solidFill>
        </a:fill>
      </a:tcStyle>
    </a:wholeTbl>
    <a:band2H>
      <a:tcTxStyle b="def" i="def"/>
      <a:tcStyle>
        <a:tcBdr/>
        <a:fill>
          <a:solidFill>
            <a:srgbClr val="F5F7F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01927"/>
              </a:solidFill>
              <a:prstDash val="solid"/>
              <a:round/>
            </a:ln>
          </a:top>
          <a:bottom>
            <a:ln w="254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5F7FA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01927"/>
              </a:solidFill>
              <a:prstDash val="solid"/>
              <a:round/>
            </a:ln>
          </a:top>
          <a:bottom>
            <a:ln w="254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CACBCB"/>
          </a:solidFill>
        </a:fill>
      </a:tcStyle>
    </a:wholeTbl>
    <a:band2H>
      <a:tcTxStyle b="def" i="def"/>
      <a:tcStyle>
        <a:tcBdr/>
        <a:fill>
          <a:solidFill>
            <a:srgbClr val="E6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101927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38100" cap="flat">
              <a:solidFill>
                <a:srgbClr val="F5F7FA"/>
              </a:solidFill>
              <a:prstDash val="solid"/>
              <a:round/>
            </a:ln>
          </a:top>
          <a:bottom>
            <a:ln w="127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101927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5F7FA"/>
      </a:tcTxStyle>
      <a:tcStyle>
        <a:tcBdr>
          <a:left>
            <a:ln w="12700" cap="flat">
              <a:solidFill>
                <a:srgbClr val="F5F7FA"/>
              </a:solidFill>
              <a:prstDash val="solid"/>
              <a:round/>
            </a:ln>
          </a:left>
          <a:right>
            <a:ln w="12700" cap="flat">
              <a:solidFill>
                <a:srgbClr val="F5F7FA"/>
              </a:solidFill>
              <a:prstDash val="solid"/>
              <a:round/>
            </a:ln>
          </a:right>
          <a:top>
            <a:ln w="12700" cap="flat">
              <a:solidFill>
                <a:srgbClr val="F5F7FA"/>
              </a:solidFill>
              <a:prstDash val="solid"/>
              <a:round/>
            </a:ln>
          </a:top>
          <a:bottom>
            <a:ln w="38100" cap="flat">
              <a:solidFill>
                <a:srgbClr val="F5F7FA"/>
              </a:solidFill>
              <a:prstDash val="solid"/>
              <a:round/>
            </a:ln>
          </a:bottom>
          <a:insideH>
            <a:ln w="12700" cap="flat">
              <a:solidFill>
                <a:srgbClr val="F5F7FA"/>
              </a:solidFill>
              <a:prstDash val="solid"/>
              <a:round/>
            </a:ln>
          </a:insideH>
          <a:insideV>
            <a:ln w="12700" cap="flat">
              <a:solidFill>
                <a:srgbClr val="F5F7FA"/>
              </a:solidFill>
              <a:prstDash val="solid"/>
              <a:round/>
            </a:ln>
          </a:insideV>
        </a:tcBdr>
        <a:fill>
          <a:solidFill>
            <a:srgbClr val="10192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101927"/>
              </a:solidFill>
              <a:prstDash val="solid"/>
              <a:round/>
            </a:ln>
          </a:left>
          <a:right>
            <a:ln w="12700" cap="flat">
              <a:solidFill>
                <a:srgbClr val="101927"/>
              </a:solidFill>
              <a:prstDash val="solid"/>
              <a:round/>
            </a:ln>
          </a:right>
          <a:top>
            <a:ln w="12700" cap="flat">
              <a:solidFill>
                <a:srgbClr val="101927"/>
              </a:solidFill>
              <a:prstDash val="solid"/>
              <a:round/>
            </a:ln>
          </a:top>
          <a:bottom>
            <a:ln w="127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solidFill>
                <a:srgbClr val="101927"/>
              </a:solidFill>
              <a:prstDash val="solid"/>
              <a:round/>
            </a:ln>
          </a:insideH>
          <a:insideV>
            <a:ln w="12700" cap="flat">
              <a:solidFill>
                <a:srgbClr val="101927"/>
              </a:solidFill>
              <a:prstDash val="solid"/>
              <a:round/>
            </a:ln>
          </a:insideV>
        </a:tcBdr>
        <a:fill>
          <a:solidFill>
            <a:srgbClr val="101927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101927"/>
              </a:solidFill>
              <a:prstDash val="solid"/>
              <a:round/>
            </a:ln>
          </a:left>
          <a:right>
            <a:ln w="12700" cap="flat">
              <a:solidFill>
                <a:srgbClr val="101927"/>
              </a:solidFill>
              <a:prstDash val="solid"/>
              <a:round/>
            </a:ln>
          </a:right>
          <a:top>
            <a:ln w="12700" cap="flat">
              <a:solidFill>
                <a:srgbClr val="101927"/>
              </a:solidFill>
              <a:prstDash val="solid"/>
              <a:round/>
            </a:ln>
          </a:top>
          <a:bottom>
            <a:ln w="127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solidFill>
                <a:srgbClr val="101927"/>
              </a:solidFill>
              <a:prstDash val="solid"/>
              <a:round/>
            </a:ln>
          </a:insideH>
          <a:insideV>
            <a:ln w="12700" cap="flat">
              <a:solidFill>
                <a:srgbClr val="101927"/>
              </a:solidFill>
              <a:prstDash val="solid"/>
              <a:round/>
            </a:ln>
          </a:insideV>
        </a:tcBdr>
        <a:fill>
          <a:solidFill>
            <a:srgbClr val="101927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101927"/>
              </a:solidFill>
              <a:prstDash val="solid"/>
              <a:round/>
            </a:ln>
          </a:left>
          <a:right>
            <a:ln w="12700" cap="flat">
              <a:solidFill>
                <a:srgbClr val="101927"/>
              </a:solidFill>
              <a:prstDash val="solid"/>
              <a:round/>
            </a:ln>
          </a:right>
          <a:top>
            <a:ln w="50800" cap="flat">
              <a:solidFill>
                <a:srgbClr val="101927"/>
              </a:solidFill>
              <a:prstDash val="solid"/>
              <a:round/>
            </a:ln>
          </a:top>
          <a:bottom>
            <a:ln w="127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solidFill>
                <a:srgbClr val="101927"/>
              </a:solidFill>
              <a:prstDash val="solid"/>
              <a:round/>
            </a:ln>
          </a:insideH>
          <a:insideV>
            <a:ln w="12700" cap="flat">
              <a:solidFill>
                <a:srgbClr val="101927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101927"/>
      </a:tcTxStyle>
      <a:tcStyle>
        <a:tcBdr>
          <a:left>
            <a:ln w="12700" cap="flat">
              <a:solidFill>
                <a:srgbClr val="101927"/>
              </a:solidFill>
              <a:prstDash val="solid"/>
              <a:round/>
            </a:ln>
          </a:left>
          <a:right>
            <a:ln w="12700" cap="flat">
              <a:solidFill>
                <a:srgbClr val="101927"/>
              </a:solidFill>
              <a:prstDash val="solid"/>
              <a:round/>
            </a:ln>
          </a:right>
          <a:top>
            <a:ln w="12700" cap="flat">
              <a:solidFill>
                <a:srgbClr val="101927"/>
              </a:solidFill>
              <a:prstDash val="solid"/>
              <a:round/>
            </a:ln>
          </a:top>
          <a:bottom>
            <a:ln w="25400" cap="flat">
              <a:solidFill>
                <a:srgbClr val="101927"/>
              </a:solidFill>
              <a:prstDash val="solid"/>
              <a:round/>
            </a:ln>
          </a:bottom>
          <a:insideH>
            <a:ln w="12700" cap="flat">
              <a:solidFill>
                <a:srgbClr val="101927"/>
              </a:solidFill>
              <a:prstDash val="solid"/>
              <a:round/>
            </a:ln>
          </a:insideH>
          <a:insideV>
            <a:ln w="12700" cap="flat">
              <a:solidFill>
                <a:srgbClr val="101927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" name="Shape 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0:00–0:30. This demo is for an infrastructure recovery coordinator. The question is how to move from thousands of wildfire records to a specific incident worth checking. We use a real Washington data extract and an interactive map.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" name="Shape 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0:30–1:20. Our proposed user is a county infrastructure recovery coordinator. They need to find fires in their service area and check whether nearby power lines or roads warrant follow-up. We do not claim an agency has deployed this tool. The app supports a focused screening decision, not a final damage assessment.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hape 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1:20–2:50. The map loads 30,521 WA DNR incident records from a local extract, so the demo works without a live data API. Show a county or year filter, then click an incident. The map shows its record, a same-area circle based on burned acres, and a downloadable report. AI helped build the app. Filtering, counts and the circle calculation run as deterministic code.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" name="Shape 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2:50–4:10. Compare two supplied reports. STONE, a 2026 incident in Stevens County, burned 0.7 acres. The 1 km scan found no nearby power-line segments or major roads, so the report labels infrastructure risk LOW. LEDBETTER, a 2017 incident in Pend Oreille County, burned 0.3 acres and has a Power Gen ignition-cause label. Infrastructure analysis is unavailable for that record. The cause label alone does not establish damage.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4:10–5:00. The value is triage: narrow a large record set, inspect a specific incident, and share its report. We keep the limits visible. The circle is an area estimate, not a true fire boundary. Nearby infrastructure is not confirmed damage. The next useful addition is official fire perimeter geometry and verified asset damage records.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685800" y="1181100"/>
            <a:ext cx="10477500" cy="1552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5400">
                <a:solidFill>
                  <a:srgbClr val="F5F7FA"/>
                </a:solidFill>
              </a:defRPr>
            </a:pPr>
            <a:r>
              <a:t>Washington wildfire</a:t>
            </a:r>
            <a:endParaRPr>
              <a:solidFill>
                <a:srgbClr val="000000"/>
              </a:solidFill>
            </a:endParaRPr>
          </a:p>
          <a:p>
            <a:pPr>
              <a:defRPr b="1" sz="5400">
                <a:solidFill>
                  <a:srgbClr val="F5F7FA"/>
                </a:solidFill>
              </a:defRPr>
            </a:pPr>
            <a:r>
              <a:t>recovery map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714375" y="3343275"/>
            <a:ext cx="9715500" cy="826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900">
                <a:solidFill>
                  <a:schemeClr val="accent2"/>
                </a:solidFill>
              </a:defRPr>
            </a:pPr>
            <a:r>
              <a:t>A Washington incident map for infrastructure</a:t>
            </a:r>
            <a:endParaRPr>
              <a:solidFill>
                <a:srgbClr val="000000"/>
              </a:solidFill>
            </a:endParaRPr>
          </a:p>
          <a:p>
            <a:pPr>
              <a:defRPr sz="2900">
                <a:solidFill>
                  <a:schemeClr val="accent2"/>
                </a:solidFill>
              </a:defRPr>
            </a:pPr>
            <a:r>
              <a:t>recovery coordinators</a:t>
            </a:r>
          </a:p>
        </p:txBody>
      </p:sp>
      <p:sp>
        <p:nvSpPr>
          <p:cNvPr id="22" name="Event"/>
          <p:cNvSpPr txBox="1"/>
          <p:nvPr/>
        </p:nvSpPr>
        <p:spPr>
          <a:xfrm>
            <a:off x="714375" y="5924550"/>
            <a:ext cx="5715000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chemeClr val="accent1"/>
                </a:solidFill>
              </a:defRPr>
            </a:lvl1pPr>
          </a:lstStyle>
          <a:p>
            <a:pPr/>
            <a:r>
              <a:t>Seattle Kiro Buildathon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 txBox="1"/>
          <p:nvPr/>
        </p:nvSpPr>
        <p:spPr>
          <a:xfrm>
            <a:off x="685800" y="647700"/>
            <a:ext cx="10477500" cy="5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700">
                <a:solidFill>
                  <a:srgbClr val="F5F7FA"/>
                </a:solidFill>
              </a:defRPr>
            </a:lvl1pPr>
          </a:lstStyle>
          <a:p>
            <a:pPr/>
            <a:r>
              <a:t>The recovery coordinator's question</a:t>
            </a:r>
          </a:p>
        </p:txBody>
      </p:sp>
      <p:sp>
        <p:nvSpPr>
          <p:cNvPr id="27" name="Question"/>
          <p:cNvSpPr txBox="1"/>
          <p:nvPr/>
        </p:nvSpPr>
        <p:spPr>
          <a:xfrm>
            <a:off x="685800" y="1762125"/>
            <a:ext cx="10382250" cy="1226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4300">
                <a:solidFill>
                  <a:schemeClr val="accent1"/>
                </a:solidFill>
              </a:defRPr>
            </a:pPr>
            <a:r>
              <a:t>Which incidents warrant a closer</a:t>
            </a:r>
            <a:endParaRPr>
              <a:solidFill>
                <a:srgbClr val="000000"/>
              </a:solidFill>
            </a:endParaRPr>
          </a:p>
          <a:p>
            <a:pPr>
              <a:defRPr b="1" sz="4300">
                <a:solidFill>
                  <a:schemeClr val="accent1"/>
                </a:solidFill>
              </a:defRPr>
            </a:pPr>
            <a:r>
              <a:t>infrastructure check?</a:t>
            </a:r>
          </a:p>
        </p:txBody>
      </p:sp>
      <p:sp>
        <p:nvSpPr>
          <p:cNvPr id="28" name="Use case"/>
          <p:cNvSpPr txBox="1"/>
          <p:nvPr/>
        </p:nvSpPr>
        <p:spPr>
          <a:xfrm>
            <a:off x="685800" y="3905250"/>
            <a:ext cx="10287000" cy="77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F5F7FA"/>
                </a:solidFill>
              </a:defRPr>
            </a:lvl1pPr>
          </a:lstStyle>
          <a:p>
            <a:pPr/>
            <a:r>
              <a:t>A county recovery coordinator needs to locate fires in a service area, review nearby power lines and roads, and share an incident record.</a:t>
            </a:r>
          </a:p>
        </p:txBody>
      </p:sp>
      <p:sp>
        <p:nvSpPr>
          <p:cNvPr id="29" name="Disclosure"/>
          <p:cNvSpPr txBox="1"/>
          <p:nvPr/>
        </p:nvSpPr>
        <p:spPr>
          <a:xfrm>
            <a:off x="685800" y="6076950"/>
            <a:ext cx="1028700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pPr/>
            <a:r>
              <a:t>Proposed user persona for this demo; no agency deployment is claimed.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"/>
          <p:cNvSpPr txBox="1"/>
          <p:nvPr/>
        </p:nvSpPr>
        <p:spPr>
          <a:xfrm>
            <a:off x="685800" y="542925"/>
            <a:ext cx="10572750" cy="5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700">
                <a:solidFill>
                  <a:srgbClr val="F5F7FA"/>
                </a:solidFill>
              </a:defRPr>
            </a:lvl1pPr>
          </a:lstStyle>
          <a:p>
            <a:pPr/>
            <a:r>
              <a:t>A working map built on real records</a:t>
            </a:r>
          </a:p>
        </p:txBody>
      </p:sp>
      <p:sp>
        <p:nvSpPr>
          <p:cNvPr id="34" name="Record count"/>
          <p:cNvSpPr txBox="1"/>
          <p:nvPr/>
        </p:nvSpPr>
        <p:spPr>
          <a:xfrm>
            <a:off x="685800" y="1695450"/>
            <a:ext cx="3238500" cy="826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800">
                <a:solidFill>
                  <a:schemeClr val="accent1"/>
                </a:solidFill>
              </a:defRPr>
            </a:lvl1pPr>
          </a:lstStyle>
          <a:p>
            <a:pPr/>
            <a:r>
              <a:t>30,521</a:t>
            </a:r>
          </a:p>
        </p:txBody>
      </p:sp>
      <p:sp>
        <p:nvSpPr>
          <p:cNvPr id="35" name="Source"/>
          <p:cNvSpPr txBox="1"/>
          <p:nvPr/>
        </p:nvSpPr>
        <p:spPr>
          <a:xfrm>
            <a:off x="685800" y="2581275"/>
            <a:ext cx="3333750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5F7FA"/>
                </a:solidFill>
              </a:defRPr>
            </a:lvl1pPr>
          </a:lstStyle>
          <a:p>
            <a:pPr/>
            <a:r>
              <a:t>WA DNR incidents</a:t>
            </a:r>
          </a:p>
        </p:txBody>
      </p:sp>
      <p:sp>
        <p:nvSpPr>
          <p:cNvPr id="36" name="Functions"/>
          <p:cNvSpPr txBox="1"/>
          <p:nvPr/>
        </p:nvSpPr>
        <p:spPr>
          <a:xfrm>
            <a:off x="685800" y="3295650"/>
            <a:ext cx="3333750" cy="1641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chemeClr val="accent2"/>
                </a:solidFill>
              </a:defRPr>
            </a:lvl1pPr>
          </a:lstStyle>
          <a:p>
            <a:pPr/>
            <a:r>
              <a:t>Filter by year, county, cause and burned acres. Open a fire to see its record, estimated area and report.</a:t>
            </a:r>
          </a:p>
        </p:txBody>
      </p:sp>
      <p:pic>
        <p:nvPicPr>
          <p:cNvPr id="37" name="Live wildfire map screenshot" descr="Live wildfire map screenshot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05350" y="1476375"/>
            <a:ext cx="6858000" cy="3857625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AI method"/>
          <p:cNvSpPr txBox="1"/>
          <p:nvPr/>
        </p:nvSpPr>
        <p:spPr>
          <a:xfrm>
            <a:off x="685800" y="5476875"/>
            <a:ext cx="1057275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AI assisted the build. Runtime filters, counts and area math are deterministic.</a:t>
            </a:r>
          </a:p>
        </p:txBody>
      </p:sp>
      <p:sp>
        <p:nvSpPr>
          <p:cNvPr id="39" name="Source note"/>
          <p:cNvSpPr txBox="1"/>
          <p:nvPr/>
        </p:nvSpPr>
        <p:spPr>
          <a:xfrm>
            <a:off x="685800" y="6048375"/>
            <a:ext cx="10810875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chemeClr val="accent2"/>
                </a:solidFill>
              </a:defRPr>
            </a:lvl1pPr>
          </a:lstStyle>
          <a:p>
            <a:pPr/>
            <a:r>
              <a:t>Source: WA DNR Fire Statistics local extract. Image: working map captured for this deck.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"/>
          <p:cNvSpPr txBox="1"/>
          <p:nvPr/>
        </p:nvSpPr>
        <p:spPr>
          <a:xfrm>
            <a:off x="685800" y="609600"/>
            <a:ext cx="10763250" cy="5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700">
                <a:solidFill>
                  <a:srgbClr val="F5F7FA"/>
                </a:solidFill>
              </a:defRPr>
            </a:lvl1pPr>
          </a:lstStyle>
          <a:p>
            <a:pPr/>
            <a:r>
              <a:t>Two incidents show the data boundary</a:t>
            </a:r>
          </a:p>
        </p:txBody>
      </p:sp>
      <p:sp>
        <p:nvSpPr>
          <p:cNvPr id="44" name="Stone"/>
          <p:cNvSpPr txBox="1"/>
          <p:nvPr/>
        </p:nvSpPr>
        <p:spPr>
          <a:xfrm>
            <a:off x="685800" y="1609725"/>
            <a:ext cx="4762500" cy="44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100">
                <a:solidFill>
                  <a:schemeClr val="accent1"/>
                </a:solidFill>
              </a:defRPr>
            </a:lvl1pPr>
          </a:lstStyle>
          <a:p>
            <a:pPr/>
            <a:r>
              <a:t>STONE  ·  2026</a:t>
            </a:r>
          </a:p>
        </p:txBody>
      </p:sp>
      <p:sp>
        <p:nvSpPr>
          <p:cNvPr id="45" name="Stone acres"/>
          <p:cNvSpPr txBox="1"/>
          <p:nvPr/>
        </p:nvSpPr>
        <p:spPr>
          <a:xfrm>
            <a:off x="685800" y="2219325"/>
            <a:ext cx="4762500" cy="728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100">
                <a:solidFill>
                  <a:srgbClr val="F5F7FA"/>
                </a:solidFill>
              </a:defRPr>
            </a:lvl1pPr>
          </a:lstStyle>
          <a:p>
            <a:pPr/>
            <a:r>
              <a:t>0.7 acres</a:t>
            </a:r>
          </a:p>
        </p:txBody>
      </p:sp>
      <p:sp>
        <p:nvSpPr>
          <p:cNvPr id="46" name="Stone details"/>
          <p:cNvSpPr txBox="1"/>
          <p:nvPr/>
        </p:nvSpPr>
        <p:spPr>
          <a:xfrm>
            <a:off x="685800" y="3248025"/>
            <a:ext cx="4619625" cy="1362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300">
                <a:solidFill>
                  <a:schemeClr val="accent2"/>
                </a:solidFill>
              </a:defRPr>
            </a:pPr>
            <a:r>
              <a:t>Stevens County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chemeClr val="accent2"/>
                </a:solidFill>
              </a:defRPr>
            </a:pPr>
            <a:r>
              <a:t>1 km scan: no nearby power-line segments or major roads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chemeClr val="accent2"/>
                </a:solidFill>
              </a:defRPr>
            </a:pPr>
            <a:r>
              <a:t>Infrastructure risk: LOW</a:t>
            </a:r>
          </a:p>
        </p:txBody>
      </p:sp>
      <p:sp>
        <p:nvSpPr>
          <p:cNvPr id="47" name="Ledbetter"/>
          <p:cNvSpPr txBox="1"/>
          <p:nvPr/>
        </p:nvSpPr>
        <p:spPr>
          <a:xfrm>
            <a:off x="6334125" y="1609725"/>
            <a:ext cx="4953000" cy="44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100">
                <a:solidFill>
                  <a:schemeClr val="accent1"/>
                </a:solidFill>
              </a:defRPr>
            </a:lvl1pPr>
          </a:lstStyle>
          <a:p>
            <a:pPr/>
            <a:r>
              <a:t>LEDBETTER  ·  2017</a:t>
            </a:r>
          </a:p>
        </p:txBody>
      </p:sp>
      <p:sp>
        <p:nvSpPr>
          <p:cNvPr id="48" name="Ledbetter acres"/>
          <p:cNvSpPr txBox="1"/>
          <p:nvPr/>
        </p:nvSpPr>
        <p:spPr>
          <a:xfrm>
            <a:off x="6334125" y="2219325"/>
            <a:ext cx="4762500" cy="728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100">
                <a:solidFill>
                  <a:srgbClr val="F5F7FA"/>
                </a:solidFill>
              </a:defRPr>
            </a:lvl1pPr>
          </a:lstStyle>
          <a:p>
            <a:pPr/>
            <a:r>
              <a:t>0.3 acres</a:t>
            </a:r>
          </a:p>
        </p:txBody>
      </p:sp>
      <p:sp>
        <p:nvSpPr>
          <p:cNvPr id="49" name="Ledbetter details"/>
          <p:cNvSpPr txBox="1"/>
          <p:nvPr/>
        </p:nvSpPr>
        <p:spPr>
          <a:xfrm>
            <a:off x="6334125" y="3248025"/>
            <a:ext cx="5000625" cy="1362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300">
                <a:solidFill>
                  <a:schemeClr val="accent2"/>
                </a:solidFill>
              </a:defRPr>
            </a:pPr>
            <a:r>
              <a:t>Pend Oreille County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chemeClr val="accent2"/>
                </a:solidFill>
              </a:defRPr>
            </a:pPr>
            <a:r>
              <a:t>Recorded cause: Power Gen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chemeClr val="accent2"/>
                </a:solidFill>
              </a:defRPr>
            </a:pPr>
            <a:r>
              <a:t>Infrastructure analysis unavailable for this incident</a:t>
            </a:r>
          </a:p>
        </p:txBody>
      </p:sp>
      <p:sp>
        <p:nvSpPr>
          <p:cNvPr id="50" name="Caveat"/>
          <p:cNvSpPr txBox="1"/>
          <p:nvPr/>
        </p:nvSpPr>
        <p:spPr>
          <a:xfrm>
            <a:off x="685800" y="5953125"/>
            <a:ext cx="1081087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pPr/>
            <a:r>
              <a:t>Power Gen is an ignition-cause label, not proof of infrastructure damage. Sources: supplied incident reports.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"/>
          <p:cNvSpPr txBox="1"/>
          <p:nvPr/>
        </p:nvSpPr>
        <p:spPr>
          <a:xfrm>
            <a:off x="685800" y="609600"/>
            <a:ext cx="10668000" cy="5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700">
                <a:solidFill>
                  <a:srgbClr val="F5F7FA"/>
                </a:solidFill>
              </a:defRPr>
            </a:lvl1pPr>
          </a:lstStyle>
          <a:p>
            <a:pPr/>
            <a:r>
              <a:t>What this tool can and cannot show</a:t>
            </a:r>
          </a:p>
        </p:txBody>
      </p:sp>
      <p:sp>
        <p:nvSpPr>
          <p:cNvPr id="55" name="Can label"/>
          <p:cNvSpPr txBox="1"/>
          <p:nvPr/>
        </p:nvSpPr>
        <p:spPr>
          <a:xfrm>
            <a:off x="685800" y="1685925"/>
            <a:ext cx="4762500" cy="40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900">
                <a:solidFill>
                  <a:schemeClr val="accent1"/>
                </a:solidFill>
              </a:defRPr>
            </a:lvl1pPr>
          </a:lstStyle>
          <a:p>
            <a:pPr/>
            <a:r>
              <a:t>Useful now</a:t>
            </a:r>
          </a:p>
        </p:txBody>
      </p:sp>
      <p:sp>
        <p:nvSpPr>
          <p:cNvPr id="56" name="Can content"/>
          <p:cNvSpPr txBox="1"/>
          <p:nvPr/>
        </p:nvSpPr>
        <p:spPr>
          <a:xfrm>
            <a:off x="685800" y="2381250"/>
            <a:ext cx="4905375" cy="1831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>
                <a:solidFill>
                  <a:srgbClr val="F5F7FA"/>
                </a:solidFill>
              </a:defRPr>
            </a:lvl1pPr>
          </a:lstStyle>
          <a:p>
            <a:pPr/>
            <a:r>
              <a:t>Narrow thousands of records to a relevant region. Compare individual incidents. Use 2026 proximity analysis to decide what merits follow-up.</a:t>
            </a:r>
          </a:p>
        </p:txBody>
      </p:sp>
      <p:sp>
        <p:nvSpPr>
          <p:cNvPr id="57" name="Limit label"/>
          <p:cNvSpPr txBox="1"/>
          <p:nvPr/>
        </p:nvSpPr>
        <p:spPr>
          <a:xfrm>
            <a:off x="6334125" y="1685925"/>
            <a:ext cx="4762500" cy="40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900">
                <a:solidFill>
                  <a:schemeClr val="accent1"/>
                </a:solidFill>
              </a:defRPr>
            </a:lvl1pPr>
          </a:lstStyle>
          <a:p>
            <a:pPr/>
            <a:r>
              <a:t>Known limits</a:t>
            </a:r>
          </a:p>
        </p:txBody>
      </p:sp>
      <p:sp>
        <p:nvSpPr>
          <p:cNvPr id="58" name="Limit content"/>
          <p:cNvSpPr txBox="1"/>
          <p:nvPr/>
        </p:nvSpPr>
        <p:spPr>
          <a:xfrm>
            <a:off x="6334125" y="2381250"/>
            <a:ext cx="4953000" cy="1462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>
                <a:solidFill>
                  <a:srgbClr val="F5F7FA"/>
                </a:solidFill>
              </a:defRPr>
            </a:lvl1pPr>
          </a:lstStyle>
          <a:p>
            <a:pPr/>
            <a:r>
              <a:t>The area circle is a same-area estimate, not the observed fire perimeter. Proximity does not verify asset damage.</a:t>
            </a:r>
          </a:p>
        </p:txBody>
      </p:sp>
      <p:sp>
        <p:nvSpPr>
          <p:cNvPr id="59" name="Next step"/>
          <p:cNvSpPr txBox="1"/>
          <p:nvPr/>
        </p:nvSpPr>
        <p:spPr>
          <a:xfrm>
            <a:off x="685800" y="5429250"/>
            <a:ext cx="10572750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</a:defRPr>
            </a:lvl1pPr>
          </a:lstStyle>
          <a:p>
            <a:pPr/>
            <a:r>
              <a:t>Next: add official fire perimeters and verified asset damage records.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ildfire">
  <a:themeElements>
    <a:clrScheme name="Wildfire">
      <a:dk1>
        <a:srgbClr val="101927"/>
      </a:dk1>
      <a:lt1>
        <a:srgbClr val="272117"/>
      </a:lt1>
      <a:dk2>
        <a:srgbClr val="A7A7A7"/>
      </a:dk2>
      <a:lt2>
        <a:srgbClr val="535353"/>
      </a:lt2>
      <a:accent1>
        <a:srgbClr val="FB923C"/>
      </a:accent1>
      <a:accent2>
        <a:srgbClr val="B6C2CF"/>
      </a:accent2>
      <a:accent3>
        <a:srgbClr val="EF4444"/>
      </a:accent3>
      <a:accent4>
        <a:srgbClr val="60A5FA"/>
      </a:accent4>
      <a:accent5>
        <a:srgbClr val="FBBF24"/>
      </a:accent5>
      <a:accent6>
        <a:srgbClr val="86EFAC"/>
      </a:accent6>
      <a:hlink>
        <a:srgbClr val="0000FF"/>
      </a:hlink>
      <a:folHlink>
        <a:srgbClr val="FF00FF"/>
      </a:folHlink>
    </a:clrScheme>
    <a:fontScheme name="Wildfir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ildfi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1927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1927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ildfire">
  <a:themeElements>
    <a:clrScheme name="Wildfir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B923C"/>
      </a:accent1>
      <a:accent2>
        <a:srgbClr val="B6C2CF"/>
      </a:accent2>
      <a:accent3>
        <a:srgbClr val="EF4444"/>
      </a:accent3>
      <a:accent4>
        <a:srgbClr val="60A5FA"/>
      </a:accent4>
      <a:accent5>
        <a:srgbClr val="FBBF24"/>
      </a:accent5>
      <a:accent6>
        <a:srgbClr val="86EFAC"/>
      </a:accent6>
      <a:hlink>
        <a:srgbClr val="0000FF"/>
      </a:hlink>
      <a:folHlink>
        <a:srgbClr val="FF00FF"/>
      </a:folHlink>
    </a:clrScheme>
    <a:fontScheme name="Wildfir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ildfi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1927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1927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